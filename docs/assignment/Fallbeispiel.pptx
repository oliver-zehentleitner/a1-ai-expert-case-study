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99" r:id="rId2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56" d="100"/>
          <a:sy n="56" d="100"/>
        </p:scale>
        <p:origin x="15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E9464F0-BFF7-DA6A-EE72-0D7324003D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A0E822-7E28-42D2-CE14-A83EFAC809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3E7DE0-F10B-44CE-A860-ACB548A726D8}" type="datetimeFigureOut">
              <a:rPr lang="de-AT"/>
              <a:pPr>
                <a:defRPr/>
              </a:pPr>
              <a:t>31.03.2026</a:t>
            </a:fld>
            <a:endParaRPr lang="de-AT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9101C4D0-B5AD-6B0B-09AB-76651B051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7ECE6655-A0C3-0EC2-B372-6553847A8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7548FC-37BD-046F-3C5D-6F6D8AFEBE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C91122-C5B1-585B-9003-959CA1BE1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BF46C78-EB20-4F68-B094-8D6FEB7FA078}" type="slidenum">
              <a:rPr lang="de-AT" altLang="de-DE"/>
              <a:pPr/>
              <a:t>‹Nr.›</a:t>
            </a:fld>
            <a:endParaRPr lang="de-AT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372C-5FC2-D01D-65BD-9B26B43A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E59524-9FB6-D89E-0131-F83171A41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797C09-0EBF-AB78-1493-E97FF7EC8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A6150A-4D30-814A-F094-88CDCA831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3F907-4EA1-8B4A-A123-2F634F0A3CEB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3870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861375"/>
            <a:ext cx="8283049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44F911F9-288A-774E-730F-D88EDCED91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2D74B70-1D5E-E768-AF19-53E4FC70D2B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54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negativ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nteraktive Schaltfläche: Leer 2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E96AF42-057E-48EF-9A5A-F96C8F60E297}"/>
              </a:ext>
            </a:extLst>
          </p:cNvPr>
          <p:cNvSpPr/>
          <p:nvPr userDrawn="1"/>
        </p:nvSpPr>
        <p:spPr>
          <a:xfrm>
            <a:off x="0" y="0"/>
            <a:ext cx="9144000" cy="1940684"/>
          </a:xfrm>
          <a:prstGeom prst="actionButtonBlank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Interaktive Schaltfläche: Leer 2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AF92A29-7A24-59AB-CCF6-4599F5DF1958}"/>
              </a:ext>
            </a:extLst>
          </p:cNvPr>
          <p:cNvSpPr/>
          <p:nvPr userDrawn="1"/>
        </p:nvSpPr>
        <p:spPr>
          <a:xfrm>
            <a:off x="427437" y="1361642"/>
            <a:ext cx="8289127" cy="4622675"/>
          </a:xfrm>
          <a:prstGeom prst="actionButtonBlank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190500" dist="152400" dir="5400000" sx="101000" sy="101000" algn="tr" rotWithShape="0">
              <a:schemeClr val="accent1">
                <a:alpha val="2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69761A85-8E7E-2113-7C44-774BCEB75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8926" y="1776897"/>
            <a:ext cx="7664434" cy="3778309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FF53D345-0A91-2F3B-EA73-73CB3F50B1B7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bg1"/>
                </a:solidFill>
              </a:rPr>
              <a:t>Draft</a:t>
            </a:r>
            <a:r>
              <a:rPr lang="de-AT" sz="450" b="0">
                <a:solidFill>
                  <a:schemeClr val="bg1"/>
                </a:solidFill>
              </a:rPr>
              <a:t> </a:t>
            </a:r>
            <a:r>
              <a:rPr lang="de-AT" sz="450" b="0" err="1">
                <a:solidFill>
                  <a:schemeClr val="bg1"/>
                </a:solidFill>
              </a:rPr>
              <a:t>for</a:t>
            </a:r>
            <a:r>
              <a:rPr lang="de-AT" sz="450" b="0">
                <a:solidFill>
                  <a:schemeClr val="bg1"/>
                </a:solidFill>
              </a:rPr>
              <a:t> internal </a:t>
            </a:r>
            <a:r>
              <a:rPr lang="de-AT" sz="450" b="0" err="1">
                <a:solidFill>
                  <a:schemeClr val="bg1"/>
                </a:solidFill>
              </a:rPr>
              <a:t>discussion</a:t>
            </a:r>
            <a:endParaRPr lang="en-US" sz="450" b="0">
              <a:solidFill>
                <a:schemeClr val="bg1"/>
              </a:solidFill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28021DA-E098-877A-6591-A7BAEF3715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CD069263-B665-AAA2-004A-AFE1FBA2CC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3C47ABD-09CF-CF01-8DFC-03E2664AE1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0BD94500-A9AC-CCE3-E233-AC753F9A66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0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E7BBDBBA-01B0-4ED3-AA4C-603204606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8920" y="6298234"/>
            <a:ext cx="6583972" cy="3935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61F23E4F-0FFB-0139-0409-AB0805D59E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2695" y="1861374"/>
            <a:ext cx="2654661" cy="4122296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F378FE64-59DE-F490-6504-04FA9FC2C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801" y="1861374"/>
            <a:ext cx="2654661" cy="4122296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95C0169-FA54-57CD-FF42-7275C3BEEE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4803" y="1861374"/>
            <a:ext cx="2654661" cy="4122296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37E665D9-7F56-28F5-5822-72A7DE6A86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B9714E2-5E3D-893E-1E0C-7C320BC2A4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5E7F23D-E5EF-D0C2-F3E0-882FB657BA0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4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 &amp;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0" y="1861376"/>
            <a:ext cx="4572000" cy="4122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861375"/>
            <a:ext cx="3987800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569CFB3-B60B-51BE-4E58-A5ED8DE0E9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179A1F97-F894-DE3C-CD43-B5BBA96FD1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248B364-7BD9-35CB-0356-1F75A60E21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32A4D9-DF53-283A-2AC8-004AC9F0FB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53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raft / HL &amp; Text  &amp; Image 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bg1"/>
                </a:solidFill>
              </a:rPr>
              <a:t>Draft</a:t>
            </a:r>
            <a:r>
              <a:rPr lang="de-AT" sz="450" b="0">
                <a:solidFill>
                  <a:schemeClr val="bg1"/>
                </a:solidFill>
              </a:rPr>
              <a:t> </a:t>
            </a:r>
            <a:r>
              <a:rPr lang="de-AT" sz="450" b="0" err="1">
                <a:solidFill>
                  <a:schemeClr val="bg1"/>
                </a:solidFill>
              </a:rPr>
              <a:t>for</a:t>
            </a:r>
            <a:r>
              <a:rPr lang="de-AT" sz="450" b="0">
                <a:solidFill>
                  <a:schemeClr val="bg1"/>
                </a:solidFill>
              </a:rPr>
              <a:t> internal </a:t>
            </a:r>
            <a:r>
              <a:rPr lang="de-AT" sz="450" b="0" err="1">
                <a:solidFill>
                  <a:schemeClr val="bg1"/>
                </a:solidFill>
              </a:rPr>
              <a:t>discussioni</a:t>
            </a:r>
            <a:endParaRPr lang="en-US" sz="450" b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82876"/>
            <a:ext cx="7553325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0" y="1861376"/>
            <a:ext cx="4572000" cy="4122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861375"/>
            <a:ext cx="3987800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1pPr>
            <a:lvl2pPr marL="355600" indent="-17145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2pPr>
            <a:lvl3pPr marL="539750" indent="-17780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3pPr>
            <a:lvl4pPr marL="703262" indent="-17145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4pPr>
            <a:lvl5pPr marL="900113" indent="-17780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22D322-A349-B9F0-D62D-16F2F6C763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298946" y="6106293"/>
            <a:ext cx="527356" cy="703033"/>
          </a:xfrm>
          <a:prstGeom prst="rect">
            <a:avLst/>
          </a:prstGeom>
        </p:spPr>
      </p:pic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775FC0C-FB69-364A-DBB3-D8389C5E64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8" name="Grafik 10">
            <a:extLst>
              <a:ext uri="{FF2B5EF4-FFF2-40B4-BE49-F238E27FC236}">
                <a16:creationId xmlns:a16="http://schemas.microsoft.com/office/drawing/2014/main" id="{0DCAF264-A7CA-A3BA-1008-8DE062AEC8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0C1DB07-ECEA-F145-2C46-68D584833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53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raft / HL &amp; Text  &amp; Image Right">
    <p:bg>
      <p:bgPr>
        <a:solidFill>
          <a:srgbClr val="4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bg1"/>
                </a:solidFill>
              </a:rPr>
              <a:t>Draft</a:t>
            </a:r>
            <a:r>
              <a:rPr lang="de-AT" sz="450" b="0">
                <a:solidFill>
                  <a:schemeClr val="bg1"/>
                </a:solidFill>
              </a:rPr>
              <a:t> </a:t>
            </a:r>
            <a:r>
              <a:rPr lang="de-AT" sz="450" b="0" err="1">
                <a:solidFill>
                  <a:schemeClr val="bg1"/>
                </a:solidFill>
              </a:rPr>
              <a:t>for</a:t>
            </a:r>
            <a:r>
              <a:rPr lang="de-AT" sz="450" b="0">
                <a:solidFill>
                  <a:schemeClr val="bg1"/>
                </a:solidFill>
              </a:rPr>
              <a:t> internal </a:t>
            </a:r>
            <a:r>
              <a:rPr lang="de-AT" sz="450" b="0" err="1">
                <a:solidFill>
                  <a:schemeClr val="bg1"/>
                </a:solidFill>
              </a:rPr>
              <a:t>discussioni</a:t>
            </a:r>
            <a:endParaRPr lang="en-US" sz="450" b="0">
              <a:solidFill>
                <a:schemeClr val="bg1"/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82876"/>
            <a:ext cx="7553325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bg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bg1"/>
              </a:solidFill>
              <a:latin typeface="Verdana"/>
              <a:cs typeface="Verdana"/>
            </a:endParaRP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0" y="1861376"/>
            <a:ext cx="4572000" cy="41229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DB4A65E3-4B35-E812-A735-7F28310F35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861375"/>
            <a:ext cx="3987800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1pPr>
            <a:lvl2pPr marL="355600" indent="-17145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2pPr>
            <a:lvl3pPr marL="539750" indent="-17780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3pPr>
            <a:lvl4pPr marL="703262" indent="-17145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4pPr>
            <a:lvl5pPr marL="900113" indent="-177800" defTabSz="360000">
              <a:buClr>
                <a:schemeClr val="bg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22D322-A349-B9F0-D62D-16F2F6C763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298946" y="6106293"/>
            <a:ext cx="527356" cy="703033"/>
          </a:xfrm>
          <a:prstGeom prst="rect">
            <a:avLst/>
          </a:prstGeom>
        </p:spPr>
      </p:pic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19745DA-35F6-0789-322D-BE6010C4C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8" name="Grafik 10">
            <a:extLst>
              <a:ext uri="{FF2B5EF4-FFF2-40B4-BE49-F238E27FC236}">
                <a16:creationId xmlns:a16="http://schemas.microsoft.com/office/drawing/2014/main" id="{AC171052-CCED-264F-C44A-B2BE7B500C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B534D7A6-2C2D-7609-3445-A454DB79C9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 Righ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82876"/>
            <a:ext cx="4791141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4524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479213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39834" y="-1"/>
            <a:ext cx="3704166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1CA9FE1-0689-A397-1804-7157963128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861375"/>
            <a:ext cx="4791141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247598-2F32-BD41-0E7D-399852A65903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4395692" y="998125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465175E0-CA13-8797-DE69-AFF8C28C5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3312292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6" name="Grafik 10">
            <a:extLst>
              <a:ext uri="{FF2B5EF4-FFF2-40B4-BE49-F238E27FC236}">
                <a16:creationId xmlns:a16="http://schemas.microsoft.com/office/drawing/2014/main" id="{3C89DB83-AC4B-490A-F584-D6A1A10754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C9AE705-05EA-7C85-7FB1-23419F6089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4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10E931-E18B-C4B7-ED51-A3A08F11F9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0" y="1860729"/>
            <a:ext cx="4144564" cy="4122941"/>
          </a:xfrm>
          <a:prstGeom prst="rect">
            <a:avLst/>
          </a:prstGeom>
        </p:spPr>
        <p:txBody>
          <a:bodyPr/>
          <a:lstStyle>
            <a:lvl1pPr marL="12700" indent="0" algn="ctr">
              <a:buClr>
                <a:schemeClr val="accent1"/>
              </a:buClr>
              <a:buFont typeface="Arial" panose="020B0604020202020204" pitchFamily="34" charset="0"/>
              <a:buNone/>
              <a:defRPr sz="800"/>
            </a:lvl1pPr>
          </a:lstStyle>
          <a:p>
            <a:pPr lvl="0"/>
            <a:r>
              <a:rPr lang="de-DE"/>
              <a:t>Place </a:t>
            </a:r>
            <a:r>
              <a:rPr lang="de-DE" err="1"/>
              <a:t>diagram</a:t>
            </a:r>
            <a:r>
              <a:rPr lang="de-DE"/>
              <a:t>, </a:t>
            </a:r>
            <a:r>
              <a:rPr lang="de-DE" err="1"/>
              <a:t>image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video</a:t>
            </a:r>
            <a:r>
              <a:rPr lang="de-DE"/>
              <a:t> </a:t>
            </a:r>
            <a:r>
              <a:rPr lang="de-DE" err="1"/>
              <a:t>here</a:t>
            </a:r>
            <a:endParaRPr lang="en-GB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9B64D13-11E1-DF56-43D8-3FF899C862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1861375"/>
            <a:ext cx="3987800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76483163-9259-C9F3-603B-AF5F82EA2C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5" name="Grafik 10">
            <a:extLst>
              <a:ext uri="{FF2B5EF4-FFF2-40B4-BE49-F238E27FC236}">
                <a16:creationId xmlns:a16="http://schemas.microsoft.com/office/drawing/2014/main" id="{5ADFC56C-8953-54FE-0589-645E9CE48C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8D21F68-5598-AE2C-8365-AD085F4381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1E3C4C-9B45-5F85-6F0C-485FE6A30C0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11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/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3" name="Bildplatzhalter 2" descr="Place image here&#10;">
            <a:extLst>
              <a:ext uri="{FF2B5EF4-FFF2-40B4-BE49-F238E27FC236}">
                <a16:creationId xmlns:a16="http://schemas.microsoft.com/office/drawing/2014/main" id="{62A04F81-E8B7-2581-DD99-069F54EA45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1802" y="1861376"/>
            <a:ext cx="1800965" cy="12825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6" name="Bildplatzhalter 2" descr="Place image here&#10;">
            <a:extLst>
              <a:ext uri="{FF2B5EF4-FFF2-40B4-BE49-F238E27FC236}">
                <a16:creationId xmlns:a16="http://schemas.microsoft.com/office/drawing/2014/main" id="{4FA143B5-F527-7B45-2E5E-E18F8718B0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1800" y="3316394"/>
            <a:ext cx="1800965" cy="12825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7" name="Bildplatzhalter 2" descr="Place image here&#10;">
            <a:extLst>
              <a:ext uri="{FF2B5EF4-FFF2-40B4-BE49-F238E27FC236}">
                <a16:creationId xmlns:a16="http://schemas.microsoft.com/office/drawing/2014/main" id="{F72675BE-FF2C-FD0B-FCAC-0C806F79DE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1533" y="4774923"/>
            <a:ext cx="1800965" cy="12825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2700" indent="0" algn="ctr">
              <a:buFontTx/>
              <a:buNone/>
              <a:defRPr sz="800"/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E63F8DD-A2D5-CF11-D45D-E9E327BA22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4729" y="1861375"/>
            <a:ext cx="6307470" cy="4122942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/>
              <a:defRPr sz="1100"/>
            </a:lvl1pPr>
            <a:lvl2pPr marL="355600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tabLst>
                <a:tab pos="90000" algn="l"/>
              </a:tabLst>
              <a:defRPr sz="1100"/>
            </a:lvl5pPr>
          </a:lstStyle>
          <a:p>
            <a:pPr lvl="0"/>
            <a:r>
              <a:rPr lang="en-GB" noProof="0"/>
              <a:t>Edit text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FA2D8D6-752F-B73A-8132-D118390D4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796F388A-17A6-8C9C-1F30-DA77E04FC0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5C60E4A-2284-11A4-A000-489E6E12733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5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ft / HL &amp; Text &amp; Images /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 rot="16200000">
            <a:off x="8099859" y="896541"/>
            <a:ext cx="1940684" cy="147600"/>
          </a:xfrm>
          <a:prstGeom prst="rect">
            <a:avLst/>
          </a:prstGeom>
          <a:noFill/>
        </p:spPr>
        <p:txBody>
          <a:bodyPr anchor="ctr"/>
          <a:lstStyle>
            <a:lvl1pPr algn="l" defTabSz="4572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400" kern="1200">
                <a:solidFill>
                  <a:srgbClr val="6CB004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Draft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for</a:t>
            </a:r>
            <a:r>
              <a:rPr lang="de-AT" sz="450" b="0">
                <a:solidFill>
                  <a:schemeClr val="tx2">
                    <a:lumMod val="50000"/>
                    <a:lumOff val="50000"/>
                  </a:schemeClr>
                </a:solidFill>
              </a:rPr>
              <a:t> internal </a:t>
            </a:r>
            <a:r>
              <a:rPr lang="de-AT" sz="450" b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discussion</a:t>
            </a:r>
            <a:endParaRPr lang="en-US" sz="450" b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31800" y="382876"/>
            <a:ext cx="8283049" cy="204908"/>
          </a:xfrm>
          <a:prstGeom prst="rect">
            <a:avLst/>
          </a:prstGeom>
        </p:spPr>
        <p:txBody>
          <a:bodyPr lIns="0" tIns="0" rIns="0" bIns="0"/>
          <a:lstStyle>
            <a:lvl1pPr marL="18000" indent="0">
              <a:buClr>
                <a:schemeClr val="accent4"/>
              </a:buClr>
              <a:buFont typeface="Wingdings" panose="05000000000000000000" pitchFamily="2" charset="2"/>
              <a:buNone/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B3D3DE7-C6C4-40DE-AEC1-A5BE11794DD9}"/>
              </a:ext>
            </a:extLst>
          </p:cNvPr>
          <p:cNvSpPr txBox="1">
            <a:spLocks/>
          </p:cNvSpPr>
          <p:nvPr userDrawn="1"/>
        </p:nvSpPr>
        <p:spPr>
          <a:xfrm>
            <a:off x="431802" y="6298234"/>
            <a:ext cx="307125" cy="39370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DEEB748-9ECA-0045-A0B7-CAB4A7055F7F}" type="slidenum">
              <a:rPr lang="en-US" sz="600" b="1" smtClean="0">
                <a:solidFill>
                  <a:schemeClr val="accent1"/>
                </a:solidFill>
                <a:latin typeface="Verdana"/>
                <a:cs typeface="Verdana"/>
              </a:rPr>
              <a:pPr algn="l"/>
              <a:t>‹Nr.›</a:t>
            </a:fld>
            <a:endParaRPr lang="en-US" sz="600" b="1">
              <a:solidFill>
                <a:schemeClr val="accent1"/>
              </a:solidFill>
              <a:latin typeface="Verdana"/>
              <a:cs typeface="Verdana"/>
            </a:endParaRP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5C544001-3D63-A823-0A6A-5EDD1ECAA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13058" y="6255786"/>
            <a:ext cx="299410" cy="408687"/>
          </a:xfrm>
          <a:prstGeom prst="rect">
            <a:avLst/>
          </a:prstGeom>
        </p:spPr>
      </p:pic>
      <p:sp>
        <p:nvSpPr>
          <p:cNvPr id="2" name="Textplatzhalter 3">
            <a:extLst>
              <a:ext uri="{FF2B5EF4-FFF2-40B4-BE49-F238E27FC236}">
                <a16:creationId xmlns:a16="http://schemas.microsoft.com/office/drawing/2014/main" id="{E7917BBC-47DB-733E-714D-E2A9719BB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2" y="591924"/>
            <a:ext cx="8284762" cy="769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Key message of the slide</a:t>
            </a:r>
          </a:p>
          <a:p>
            <a:endParaRPr lang="en-GB" noProof="0"/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A76C66DC-1434-4EBC-876D-89413B7F1C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2695" y="3922846"/>
            <a:ext cx="2654661" cy="2060825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D6056E5-F4AA-C8C9-2A1D-4D972CE9F35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8186" y="1860729"/>
            <a:ext cx="2648276" cy="18845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77800" marR="0" indent="-16510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916A0E58-AEB3-024C-C7E3-9669AB142C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244803" y="1860729"/>
            <a:ext cx="2648276" cy="18845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77800" marR="0" indent="-16510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5" name="Bildplatzhalter 12">
            <a:extLst>
              <a:ext uri="{FF2B5EF4-FFF2-40B4-BE49-F238E27FC236}">
                <a16:creationId xmlns:a16="http://schemas.microsoft.com/office/drawing/2014/main" id="{F6E4012D-C2A3-114D-E6FA-8F787D3BF1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52695" y="1860729"/>
            <a:ext cx="2666232" cy="18845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177800" marR="0" indent="-16510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B004"/>
              </a:buClr>
              <a:buSzTx/>
              <a:buFont typeface="Wingdings" charset="2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AT" err="1"/>
              <a:t>Placeholder</a:t>
            </a:r>
            <a:endParaRPr lang="de-AT"/>
          </a:p>
          <a:p>
            <a:endParaRPr lang="de-AT"/>
          </a:p>
          <a:p>
            <a:endParaRPr lang="de-AT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BC7F939-B2B3-F37D-0651-359C16148F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801" y="3922846"/>
            <a:ext cx="2654661" cy="2060825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B17CED7-E4B6-9047-DA37-3304607E29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4803" y="3922846"/>
            <a:ext cx="2654661" cy="2060825"/>
          </a:xfrm>
          <a:prstGeom prst="rect">
            <a:avLst/>
          </a:prstGeom>
        </p:spPr>
        <p:txBody>
          <a:bodyPr lIns="0" tIns="0" rIns="0" bIns="0"/>
          <a:lstStyle>
            <a:lvl1pPr marL="177800" indent="-177800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1pPr>
            <a:lvl2pPr marL="358775" indent="-174625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2pPr>
            <a:lvl3pPr marL="539750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3pPr>
            <a:lvl4pPr marL="703262" indent="-17145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4pPr>
            <a:lvl5pPr marL="900113" indent="-177800" defTabSz="360000">
              <a:buClr>
                <a:schemeClr val="accent1"/>
              </a:buClr>
              <a:buSzPct val="105000"/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GB" noProof="0"/>
              <a:t>Edit text </a:t>
            </a:r>
          </a:p>
          <a:p>
            <a:pPr lvl="1"/>
            <a:r>
              <a:rPr lang="en-GB" noProof="0"/>
              <a:t>Edit text row 2</a:t>
            </a:r>
          </a:p>
          <a:p>
            <a:pPr lvl="2"/>
            <a:r>
              <a:rPr lang="en-GB" noProof="0"/>
              <a:t>Edith text row 3</a:t>
            </a:r>
          </a:p>
          <a:p>
            <a:pPr lvl="3"/>
            <a:r>
              <a:rPr lang="en-GB" noProof="0"/>
              <a:t>Edith text row 4</a:t>
            </a:r>
          </a:p>
          <a:p>
            <a:pPr lvl="4"/>
            <a:r>
              <a:rPr lang="en-GB" noProof="0"/>
              <a:t>Edith text row 5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103C6F5A-B439-698F-5FDD-83A74A27F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32" y="6298233"/>
            <a:ext cx="6690660" cy="393703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">
                <a:solidFill>
                  <a:schemeClr val="tx2"/>
                </a:solidFill>
                <a:cs typeface="Verdana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Country | Name Surname | Presentation</a:t>
            </a:r>
            <a:endParaRPr lang="en-GB" sz="600" noProof="0">
              <a:solidFill>
                <a:schemeClr val="accent4"/>
              </a:solidFill>
              <a:latin typeface="+mn-lt"/>
              <a:cs typeface="Verdana"/>
            </a:endParaRPr>
          </a:p>
        </p:txBody>
      </p:sp>
      <p:pic>
        <p:nvPicPr>
          <p:cNvPr id="12" name="Grafik 10">
            <a:extLst>
              <a:ext uri="{FF2B5EF4-FFF2-40B4-BE49-F238E27FC236}">
                <a16:creationId xmlns:a16="http://schemas.microsoft.com/office/drawing/2014/main" id="{C7ACD9EB-8269-7471-099A-77FE596609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5364" y="6182083"/>
            <a:ext cx="1133556" cy="6258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8400EF8-644D-E1D7-0A8A-4AEA8E9AA2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479" y="6643627"/>
            <a:ext cx="1200318" cy="114298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84D5F79E-AB9E-C9B4-8D06-4F3F622AD86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66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FBAE40"/>
          </p15:clr>
        </p15:guide>
        <p15:guide id="2" orient="horz" pos="183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5E87BA68-6293-3302-D75A-9C27611A0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4413" y="382876"/>
            <a:ext cx="532151" cy="7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01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31800" y="2609814"/>
            <a:ext cx="8283050" cy="1404044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</a:t>
            </a:r>
            <a:br>
              <a:rPr lang="en-GB"/>
            </a:br>
            <a:r>
              <a:rPr lang="en-GB"/>
              <a:t>Presentation title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31344" y="4013859"/>
            <a:ext cx="8283506" cy="20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Name and Surname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B28617C2-EAB3-F4DC-F66A-4482502C47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0400" y="537517"/>
            <a:ext cx="925200" cy="12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75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Dark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31800" y="2502884"/>
            <a:ext cx="8283050" cy="14040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Divider Headline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31344" y="3906928"/>
            <a:ext cx="8283506" cy="5413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2000" baseline="0">
                <a:solidFill>
                  <a:schemeClr val="bg2"/>
                </a:solidFill>
              </a:defRPr>
            </a:lvl1pPr>
          </a:lstStyle>
          <a:p>
            <a:r>
              <a:rPr lang="en-GB" err="1"/>
              <a:t>Subheadline</a:t>
            </a:r>
            <a:endParaRPr lang="en-GB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6E4583A-4CE6-F8C8-10F8-04F528D15F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9649" y="5060363"/>
            <a:ext cx="925200" cy="12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07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ackground in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1036957" y="2305577"/>
            <a:ext cx="7098674" cy="277787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outerShdw blurRad="190500" dist="190500" dir="2700000" algn="tl" rotWithShape="0">
              <a:prstClr val="black">
                <a:alpha val="25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1036957" y="2305577"/>
            <a:ext cx="7098674" cy="2777873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</a:t>
            </a:r>
            <a:br>
              <a:rPr lang="en-GB"/>
            </a:br>
            <a:r>
              <a:rPr lang="en-GB"/>
              <a:t>Presentation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5810250" y="4572540"/>
            <a:ext cx="2898775" cy="1239429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accent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10250" y="4572540"/>
            <a:ext cx="2898775" cy="1239429"/>
          </a:xfrm>
          <a:prstGeom prst="rect">
            <a:avLst/>
          </a:prstGeom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11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DD month YYYY, </a:t>
            </a:r>
            <a:br>
              <a:rPr lang="en-GB"/>
            </a:br>
            <a:r>
              <a:rPr lang="en-GB"/>
              <a:t>Name and Surname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F5E13D13-DDCB-C7A0-7508-2828DB227D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0400" y="537517"/>
            <a:ext cx="925200" cy="12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04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NLY internet communic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31800" y="2609814"/>
            <a:ext cx="8283050" cy="1404044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Placeholder Presentation title - Usage ONLY for Internet communication.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31344" y="4013859"/>
            <a:ext cx="8283506" cy="20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bg1"/>
              </a:buClr>
              <a:buFontTx/>
              <a:buNone/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Name and Surname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26357BA-6420-4993-A01F-9C56ECFDD377}"/>
              </a:ext>
            </a:extLst>
          </p:cNvPr>
          <p:cNvSpPr txBox="1"/>
          <p:nvPr userDrawn="1"/>
        </p:nvSpPr>
        <p:spPr>
          <a:xfrm>
            <a:off x="0" y="-574195"/>
            <a:ext cx="9144000" cy="57008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1200" b="1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5CEC4F-A5DF-4AE5-A59D-170420149A51}"/>
              </a:ext>
            </a:extLst>
          </p:cNvPr>
          <p:cNvSpPr txBox="1"/>
          <p:nvPr userDrawn="1"/>
        </p:nvSpPr>
        <p:spPr>
          <a:xfrm rot="16200000">
            <a:off x="5926756" y="3222053"/>
            <a:ext cx="6857999" cy="41388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1600" b="1">
              <a:solidFill>
                <a:schemeClr val="bg2"/>
              </a:solidFill>
              <a:latin typeface="+mn-lt"/>
              <a:cs typeface="Verdana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ED53497-ED9F-B640-2A10-D55FE4F117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0400" y="537517"/>
            <a:ext cx="925200" cy="12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83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ox - ONLY Internet communic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08FBC68-127C-44DD-662C-BB9A373585EC}"/>
              </a:ext>
            </a:extLst>
          </p:cNvPr>
          <p:cNvSpPr/>
          <p:nvPr userDrawn="1"/>
        </p:nvSpPr>
        <p:spPr>
          <a:xfrm>
            <a:off x="1036957" y="2305577"/>
            <a:ext cx="7098674" cy="2777873"/>
          </a:xfrm>
          <a:prstGeom prst="rect">
            <a:avLst/>
          </a:prstGeom>
          <a:solidFill>
            <a:schemeClr val="bg2">
              <a:alpha val="30000"/>
            </a:schemeClr>
          </a:solidFill>
          <a:ln>
            <a:noFill/>
          </a:ln>
          <a:effectLst>
            <a:outerShdw blurRad="190500" dist="190500" dir="2700000" algn="tl" rotWithShape="0">
              <a:schemeClr val="tx1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1036957" y="2305577"/>
            <a:ext cx="7098674" cy="2777873"/>
          </a:xfrm>
          <a:prstGeom prst="rect">
            <a:avLst/>
          </a:prstGeom>
        </p:spPr>
        <p:txBody>
          <a:bodyPr lIns="720000" tIns="720000" rIns="720000" bIns="72000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Placeholder Presentation title - </a:t>
            </a:r>
            <a:r>
              <a:rPr lang="en-US"/>
              <a:t>Usage ONLY for Internet communication</a:t>
            </a:r>
            <a:r>
              <a:rPr lang="en-GB"/>
              <a:t>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A42B640-468B-E2BB-8BA0-5DAA188497FB}"/>
              </a:ext>
            </a:extLst>
          </p:cNvPr>
          <p:cNvSpPr/>
          <p:nvPr userDrawn="1"/>
        </p:nvSpPr>
        <p:spPr>
          <a:xfrm>
            <a:off x="5810250" y="4572540"/>
            <a:ext cx="2898775" cy="1239429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  <a:effectLst>
            <a:outerShdw blurRad="190500" dist="190500" dir="2700000" algn="tl" rotWithShape="0">
              <a:schemeClr val="tx2">
                <a:alpha val="25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Tx/>
              <a:buNone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10250" y="4572540"/>
            <a:ext cx="2898775" cy="1239429"/>
          </a:xfrm>
          <a:prstGeom prst="rect">
            <a:avLst/>
          </a:prstGeom>
          <a:noFill/>
        </p:spPr>
        <p:txBody>
          <a:bodyPr lIns="360000" tIns="360000" rIns="360000" bIns="360000" anchor="ctr"/>
          <a:lstStyle>
            <a:lvl1pPr marL="0" indent="0">
              <a:buClr>
                <a:schemeClr val="bg1"/>
              </a:buClr>
              <a:buFontTx/>
              <a:buNone/>
              <a:defRPr sz="1100" baseline="0">
                <a:solidFill>
                  <a:schemeClr val="bg2"/>
                </a:solidFill>
              </a:defRPr>
            </a:lvl1pPr>
          </a:lstStyle>
          <a:p>
            <a:r>
              <a:rPr lang="en-GB"/>
              <a:t>DD month YYYY, </a:t>
            </a:r>
            <a:br>
              <a:rPr lang="en-GB"/>
            </a:br>
            <a:r>
              <a:rPr lang="en-GB"/>
              <a:t>Name and Surname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1D2785-153E-CABE-5568-E39F6833A1D4}"/>
              </a:ext>
            </a:extLst>
          </p:cNvPr>
          <p:cNvSpPr txBox="1"/>
          <p:nvPr userDrawn="1"/>
        </p:nvSpPr>
        <p:spPr>
          <a:xfrm>
            <a:off x="0" y="-574195"/>
            <a:ext cx="9144000" cy="57008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1200" b="1">
              <a:solidFill>
                <a:schemeClr val="bg2"/>
              </a:solidFill>
              <a:latin typeface="Verdana"/>
              <a:cs typeface="Verdana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F63A03-65BF-098F-1B26-50142F94B186}"/>
              </a:ext>
            </a:extLst>
          </p:cNvPr>
          <p:cNvSpPr txBox="1"/>
          <p:nvPr userDrawn="1"/>
        </p:nvSpPr>
        <p:spPr>
          <a:xfrm rot="16200000">
            <a:off x="5926756" y="3222053"/>
            <a:ext cx="6857999" cy="41388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0" i="0" kern="1200">
                <a:solidFill>
                  <a:schemeClr val="bg2"/>
                </a:solidFill>
                <a:effectLst/>
                <a:latin typeface="+mn-lt"/>
                <a:ea typeface="+mn-ea"/>
                <a:cs typeface="+mn-cs"/>
              </a:rPr>
              <a:t>Usage ONLY for Internet communication.</a:t>
            </a:r>
            <a:endParaRPr lang="de-AT" sz="1600" b="1">
              <a:solidFill>
                <a:schemeClr val="bg2"/>
              </a:solidFill>
              <a:latin typeface="+mn-lt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7EC3F-A098-3A10-AEB0-217BEBC0F9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0400" y="537517"/>
            <a:ext cx="925200" cy="12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0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444CF5A-C9FF-39C7-EB9F-2A4F7E31E3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93262238"/>
              </p:ext>
            </p:extLst>
          </p:nvPr>
        </p:nvGraphicFramePr>
        <p:xfrm>
          <a:off x="794" y="1058"/>
          <a:ext cx="794" cy="1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592" imgH="591" progId="TCLayout.ActiveDocument.1">
                  <p:embed/>
                </p:oleObj>
              </mc:Choice>
              <mc:Fallback>
                <p:oleObj name="think-cell Folie" r:id="rId19" imgW="592" imgH="591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44CF5A-C9FF-39C7-EB9F-2A4F7E31E3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4" y="1058"/>
                        <a:ext cx="794" cy="1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F1DB6F-D1C9-D4B6-3675-BF337638C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7437" y="1861375"/>
            <a:ext cx="8284762" cy="41229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DE4EAAB2-3B22-DBDD-9E74-C3FC8ACF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37" y="591924"/>
            <a:ext cx="8284762" cy="76971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5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lnSpc>
          <a:spcPct val="110000"/>
        </a:lnSpc>
        <a:spcBef>
          <a:spcPct val="0"/>
        </a:spcBef>
        <a:buNone/>
        <a:defRPr sz="2000" kern="1200">
          <a:solidFill>
            <a:schemeClr val="accent1"/>
          </a:solidFill>
          <a:latin typeface="Verdana"/>
          <a:ea typeface="+mj-ea"/>
          <a:cs typeface="Verdana"/>
        </a:defRPr>
      </a:lvl1pPr>
    </p:titleStyle>
    <p:bodyStyle>
      <a:lvl1pPr marL="177800" indent="-165100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/>
          <a:ea typeface="+mn-ea"/>
          <a:cs typeface="Verdana"/>
        </a:defRPr>
      </a:lvl1pPr>
      <a:lvl2pPr marL="358775" indent="-174625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/>
          <a:ea typeface="+mn-ea"/>
          <a:cs typeface="Verdana"/>
        </a:defRPr>
      </a:lvl2pPr>
      <a:lvl3pPr marL="539750" indent="-177800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Verdana"/>
          <a:ea typeface="+mn-ea"/>
          <a:cs typeface="Verdana"/>
        </a:defRPr>
      </a:lvl3pPr>
      <a:lvl4pPr marL="714375" indent="-182563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/>
          <a:ea typeface="+mn-ea"/>
          <a:cs typeface="Verdana"/>
        </a:defRPr>
      </a:lvl4pPr>
      <a:lvl5pPr marL="900113" indent="-177800" algn="l" defTabSz="4572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SzPct val="105000"/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B270-CB7B-A994-6A0A-62EFCC79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093C06-9BE2-83D2-0381-43D8A86AA0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619" y="474674"/>
            <a:ext cx="8284762" cy="577377"/>
          </a:xfrm>
        </p:spPr>
        <p:txBody>
          <a:bodyPr>
            <a:normAutofit/>
          </a:bodyPr>
          <a:lstStyle/>
          <a:p>
            <a:r>
              <a:rPr lang="en-US" dirty="0" err="1"/>
              <a:t>Fallbeispiel</a:t>
            </a:r>
            <a:r>
              <a:rPr lang="en-US" dirty="0"/>
              <a:t> – AI Expert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62228AD-499E-BBD6-2F7B-65B4DD65333E}"/>
              </a:ext>
            </a:extLst>
          </p:cNvPr>
          <p:cNvSpPr txBox="1"/>
          <p:nvPr/>
        </p:nvSpPr>
        <p:spPr>
          <a:xfrm>
            <a:off x="309617" y="1555895"/>
            <a:ext cx="4028536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de-AT" sz="800" b="1" dirty="0">
                <a:solidFill>
                  <a:srgbClr val="FF0000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1. Ziel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Sie bearbeiten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ein Fallbeispiel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 mit einem SMS-Datensatz (HAM/SPAM).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Es gibt zwei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Fokusbereiche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: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Klassisches </a:t>
            </a:r>
            <a:r>
              <a:rPr lang="de-AT" sz="800" b="1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Machine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Learning &amp; Data Science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en-US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GenAI &amp; LLM (</a:t>
            </a:r>
            <a:r>
              <a:rPr lang="en-US" sz="800" b="1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inkl</a:t>
            </a:r>
            <a:r>
              <a:rPr lang="en-US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. Agentic AI)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en-US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Wir erwarten: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Code-Lösungen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für die explizit als solche gekennzeichneten Aufgaben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Die Code-Lösungen sollen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präsentiert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werden und bilden die Grundlage für eine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offene Diskussion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.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FF0000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2. Ablauf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Sie erhalten: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den SMS-Datensatz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diese Aufgabenbeschreibung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Sie senden uns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vor dem Gespräch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: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Ihren Code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eine kurze Ausführungsbeschreibung (z. B. README)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eine requirements.txt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Im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Gespräch / Hearing (ca. 15 Minuten)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: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Rückfragen &amp; „Challenge“ zu Ihrem Code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Fachdiskussion zu Architektur- und Konzeptthemen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FF0000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3. Technische Rahmenbedingungen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Klassisches ML &amp; Data Science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Vollständige Python-Lösung (lokal lauffähig, ohne Nutzung externer ML- oder LLM-Dienste)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Python 3.x, </a:t>
            </a:r>
            <a:r>
              <a:rPr lang="en-US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gängige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Open-Source-</a:t>
            </a:r>
            <a:r>
              <a:rPr lang="en-US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Bibliotheken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(z. B. pandas, </a:t>
            </a:r>
            <a:r>
              <a:rPr lang="en-US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numpy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, scikit-learn, </a:t>
            </a:r>
            <a:r>
              <a:rPr lang="en-US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nltk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/spacy, …)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Bitte beilegen: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requirements.txt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kurze Anleitung zur Ausführung (z. B. in einem README)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buNone/>
            </a:pPr>
            <a:b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</a:b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878E6F2-DC1B-71D0-30BB-796789821006}"/>
              </a:ext>
            </a:extLst>
          </p:cNvPr>
          <p:cNvSpPr txBox="1"/>
          <p:nvPr/>
        </p:nvSpPr>
        <p:spPr>
          <a:xfrm>
            <a:off x="4485735" y="922786"/>
            <a:ext cx="46582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GenAI &amp; LLM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Nutzung externer Dienste (z. B. LLMs, </a:t>
            </a:r>
            <a:r>
              <a:rPr lang="de-AT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Embeddings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-APIs) ist möglich und erwünscht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Bitte dokumentieren: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verwendete APIs/Modelle/Dienste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verwendete Bibliotheken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wie Ihre Lösung grundsätzlich ausgeführt und nachvollzogen werden kann</a:t>
            </a:r>
            <a:b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(z. B. Konfiguration von API Keys, typische Aufrufbeispiele)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endParaRPr lang="de-AT" sz="800" b="1" dirty="0">
              <a:solidFill>
                <a:srgbClr val="FF0000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FF0000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4. Aufgaben – Codelösungen</a:t>
            </a:r>
          </a:p>
          <a:p>
            <a:pPr>
              <a:buNone/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4.1 Klassisches ML &amp; Data Science (Code)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Analyse der Texte – häufigste Wörter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Welche Wörter kommen in den SMS am häufigsten vor?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HAM vs. SPAM – Unterschiede in der Wortwahl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Gibt es markante Unterschiede in der Wortwahl zwischen HAM und SPAM?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Welche Wörter sind besonders typisch für SPAM bzw. HAM?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Häufige Wortgruppen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Welche Wortgruppen (z. B. </a:t>
            </a:r>
            <a:r>
              <a:rPr lang="de-AT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Bigrams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de-AT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Trigrams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treten besonders häufig gemeinsam auf?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SPAM/HAM-Klassifikationsmodell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Entwickeln Sie ein Modell, das SMS als SPAM oder HAM klassifiziert.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Bitte inkl. kurzer Beschreibung von: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lvl="2" indent="-114300">
              <a:buSzPts val="1000"/>
              <a:buFont typeface="Wingdings" panose="05000000000000000000" pitchFamily="2" charset="2"/>
              <a:buChar char=""/>
              <a:tabLst>
                <a:tab pos="6858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der Textrepräsentation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571500" lvl="2" indent="-114300">
              <a:buSzPts val="1000"/>
              <a:buFont typeface="Wingdings" panose="05000000000000000000" pitchFamily="2" charset="2"/>
              <a:buChar char=""/>
              <a:tabLst>
                <a:tab pos="6858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dem gewählten Modell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571500" lvl="2" indent="-114300">
              <a:buSzPts val="1000"/>
              <a:buFont typeface="Wingdings" panose="05000000000000000000" pitchFamily="2" charset="2"/>
              <a:buChar char=""/>
              <a:tabLst>
                <a:tab pos="685800" algn="l"/>
              </a:tabLst>
            </a:pP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der </a:t>
            </a:r>
            <a:r>
              <a:rPr lang="en-US" sz="800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Evaluierung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en-US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tabLst>
                <a:tab pos="138113" algn="l"/>
                <a:tab pos="586582" algn="l"/>
              </a:tabLst>
            </a:pP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4.2 GenAI &amp; LLM (Code)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Font typeface="+mj-lt"/>
              <a:buAutoNum type="arabicPeriod"/>
              <a:tabLst>
                <a:tab pos="228600" algn="l"/>
              </a:tabLst>
            </a:pP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Semantisches Clustering der SMS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Entwickeln Sie eine Logik, die SMS auf Basis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semantischer Ähnlichkeit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in Cluster einteilt.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1475" lvl="1" indent="-142875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Hinweis: Es wird eine Lösung mit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LLMs/</a:t>
            </a:r>
            <a:r>
              <a:rPr lang="de-AT" sz="800" b="1" dirty="0" err="1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erwartet (z. B. Vektorrepräsentationen der SMS, Clustering-Verfahren).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b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</a:b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b="1" dirty="0">
                <a:solidFill>
                  <a:srgbClr val="FF0000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5. Einreichung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buNone/>
            </a:pPr>
            <a:r>
              <a:rPr lang="de-AT" sz="800" dirty="0">
                <a:solidFill>
                  <a:srgbClr val="5F5F5F"/>
                </a:solidFill>
                <a:latin typeface="+mn-lt"/>
                <a:ea typeface="Aptos" panose="020B0004020202020204" pitchFamily="34" charset="0"/>
                <a:cs typeface="Aptos" panose="020B0004020202020204" pitchFamily="34" charset="0"/>
              </a:rPr>
              <a:t>Bis zu 24 Stunden vor dem vereinbarten Termin senden Sie bitte:</a:t>
            </a:r>
            <a:endParaRPr lang="de-AT" sz="800" dirty="0"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Ihren </a:t>
            </a:r>
            <a:r>
              <a:rPr lang="de-AT" sz="800" b="1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Code</a:t>
            </a: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 zu allen Aufgaben mit der Kennzeichnung „Code“ bzw. „Erwartung: Codelösung“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requirements.txt und eine kurze Ausführungsanleitung (z. B. README) 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171450" indent="-17145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de-AT" sz="800" dirty="0">
                <a:solidFill>
                  <a:srgbClr val="5F5F5F"/>
                </a:solidFill>
                <a:latin typeface="+mn-lt"/>
                <a:ea typeface="Times New Roman" panose="02020603050405020304" pitchFamily="18" charset="0"/>
                <a:cs typeface="Aptos" panose="020B0004020202020204" pitchFamily="34" charset="0"/>
              </a:rPr>
              <a:t>Optional: kurze Skizzen oder Notizen zu den Diskussionsthemen</a:t>
            </a:r>
            <a:endParaRPr lang="de-AT" sz="800" dirty="0">
              <a:solidFill>
                <a:srgbClr val="5F5F5F"/>
              </a:solidFill>
              <a:latin typeface="+mn-lt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29F136-F13E-D10E-3284-D7488EC24C13}"/>
              </a:ext>
            </a:extLst>
          </p:cNvPr>
          <p:cNvSpPr txBox="1"/>
          <p:nvPr/>
        </p:nvSpPr>
        <p:spPr>
          <a:xfrm>
            <a:off x="429619" y="987427"/>
            <a:ext cx="1384299" cy="322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AT" sz="1000" dirty="0">
                <a:solidFill>
                  <a:schemeClr val="accent1"/>
                </a:solidFill>
                <a:latin typeface="Verdana"/>
              </a:rPr>
              <a:t>Datensatz für Beispiel:</a:t>
            </a:r>
            <a:r>
              <a:rPr lang="de-AT" sz="1000" b="1" dirty="0">
                <a:latin typeface="Verdana"/>
                <a:cs typeface="Verdana"/>
              </a:rPr>
              <a:t> </a:t>
            </a:r>
          </a:p>
        </p:txBody>
      </p:sp>
      <p:graphicFrame>
        <p:nvGraphicFramePr>
          <p:cNvPr id="9" name="Objekt 8">
            <a:extLst>
              <a:ext uri="{FF2B5EF4-FFF2-40B4-BE49-F238E27FC236}">
                <a16:creationId xmlns:a16="http://schemas.microsoft.com/office/drawing/2014/main" id="{491D87AA-CFF6-02FC-B9BE-FA932400C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779282"/>
              </p:ext>
            </p:extLst>
          </p:nvPr>
        </p:nvGraphicFramePr>
        <p:xfrm>
          <a:off x="2061231" y="978518"/>
          <a:ext cx="1461239" cy="866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-Manager-Shellobjekt" showAsIcon="1" r:id="rId3" imgW="888951" imgH="526962" progId="Package">
                  <p:embed/>
                </p:oleObj>
              </mc:Choice>
              <mc:Fallback>
                <p:oleObj name="Objekt-Manager-Shellobjekt" showAsIcon="1" r:id="rId3" imgW="888951" imgH="526962" progId="Package">
                  <p:embed/>
                  <p:pic>
                    <p:nvPicPr>
                      <p:cNvPr id="9" name="Objekt 8">
                        <a:extLst>
                          <a:ext uri="{FF2B5EF4-FFF2-40B4-BE49-F238E27FC236}">
                            <a16:creationId xmlns:a16="http://schemas.microsoft.com/office/drawing/2014/main" id="{491D87AA-CFF6-02FC-B9BE-FA932400C1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1231" y="978518"/>
                        <a:ext cx="1461239" cy="866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88197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lekom Austria Master">
  <a:themeElements>
    <a:clrScheme name="A1 Colour Palette 202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B140A"/>
      </a:accent1>
      <a:accent2>
        <a:srgbClr val="FA8A80"/>
      </a:accent2>
      <a:accent3>
        <a:srgbClr val="820000"/>
      </a:accent3>
      <a:accent4>
        <a:srgbClr val="FF372D"/>
      </a:accent4>
      <a:accent5>
        <a:srgbClr val="A8C6FF"/>
      </a:accent5>
      <a:accent6>
        <a:srgbClr val="3F1EE2"/>
      </a:accent6>
      <a:hlink>
        <a:srgbClr val="EB140A"/>
      </a:hlink>
      <a:folHlink>
        <a:srgbClr val="820000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lin ang="2700000" scaled="0"/>
        </a:gradFill>
        <a:ln>
          <a:noFill/>
        </a:ln>
        <a:effectLst/>
      </a:spPr>
      <a:bodyPr lIns="36000" tIns="36000" rIns="36000" bIns="36000" rtlCol="0" anchor="ctr"/>
      <a:lstStyle>
        <a:defPPr algn="ctr">
          <a:defRPr sz="2400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10000"/>
          </a:lnSpc>
          <a:defRPr sz="1200" b="1" dirty="0" smtClean="0">
            <a:latin typeface="Verdana"/>
            <a:cs typeface="Verdan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1-PPT-Master-Template_EN_All-Countries-and-Departments.pptx" id="{CC412A1F-E6A9-486F-AB20-DCD5ED573749}" vid="{42286126-5D99-416D-94E0-C9D35BF0B2D3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467</Words>
  <Application>Microsoft Office PowerPoint</Application>
  <PresentationFormat>Bildschirmpräsentation (4:3)</PresentationFormat>
  <Paragraphs>68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Arial</vt:lpstr>
      <vt:lpstr>Calibri</vt:lpstr>
      <vt:lpstr>Courier New</vt:lpstr>
      <vt:lpstr>Symbol</vt:lpstr>
      <vt:lpstr>Verdana</vt:lpstr>
      <vt:lpstr>Wingdings</vt:lpstr>
      <vt:lpstr>Telekom Austria Master</vt:lpstr>
      <vt:lpstr>think-cell Folie</vt:lpstr>
      <vt:lpstr>Objekt-Manager-Shellobjekt</vt:lpstr>
      <vt:lpstr>PowerPoint-Präsentation</vt:lpstr>
    </vt:vector>
  </TitlesOfParts>
  <Company>A1 Telekom Austria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Borth</dc:creator>
  <cp:lastModifiedBy>Christina Borth</cp:lastModifiedBy>
  <cp:revision>3</cp:revision>
  <dcterms:created xsi:type="dcterms:W3CDTF">2026-02-04T06:07:24Z</dcterms:created>
  <dcterms:modified xsi:type="dcterms:W3CDTF">2026-03-31T10:40:47Z</dcterms:modified>
</cp:coreProperties>
</file>